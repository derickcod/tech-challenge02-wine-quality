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75" r:id="rId2"/>
    <p:sldId id="276" r:id="rId3"/>
    <p:sldId id="257" r:id="rId4"/>
    <p:sldId id="277" r:id="rId5"/>
    <p:sldId id="258" r:id="rId6"/>
    <p:sldId id="278" r:id="rId7"/>
    <p:sldId id="259" r:id="rId8"/>
    <p:sldId id="281" r:id="rId9"/>
    <p:sldId id="260" r:id="rId10"/>
    <p:sldId id="280" r:id="rId11"/>
    <p:sldId id="261" r:id="rId12"/>
    <p:sldId id="282" r:id="rId13"/>
    <p:sldId id="262" r:id="rId14"/>
    <p:sldId id="283" r:id="rId15"/>
    <p:sldId id="263" r:id="rId16"/>
    <p:sldId id="264" r:id="rId17"/>
    <p:sldId id="265" r:id="rId18"/>
    <p:sldId id="279" r:id="rId19"/>
    <p:sldId id="266" r:id="rId20"/>
    <p:sldId id="267" r:id="rId21"/>
    <p:sldId id="295" r:id="rId22"/>
    <p:sldId id="268" r:id="rId23"/>
    <p:sldId id="292" r:id="rId24"/>
    <p:sldId id="269" r:id="rId25"/>
    <p:sldId id="270" r:id="rId26"/>
    <p:sldId id="290" r:id="rId27"/>
    <p:sldId id="294" r:id="rId28"/>
    <p:sldId id="271" r:id="rId29"/>
    <p:sldId id="272" r:id="rId30"/>
    <p:sldId id="273" r:id="rId31"/>
    <p:sldId id="274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45B"/>
    <a:srgbClr val="2525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ED145B"/>
            </a:solidFill>
          </c:spPr>
          <c:invertIfNegative val="1"/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A38D-414B-8452-96FBC048C5A1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Álcool</c:v>
                </c:pt>
                <c:pt idx="1">
                  <c:v>Sulfatos</c:v>
                </c:pt>
                <c:pt idx="2">
                  <c:v>Ácido cítrico</c:v>
                </c:pt>
                <c:pt idx="3">
                  <c:v>Acidez volátil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0.48</c:v>
                </c:pt>
                <c:pt idx="1">
                  <c:v>0.26</c:v>
                </c:pt>
                <c:pt idx="2">
                  <c:v>0.24</c:v>
                </c:pt>
                <c:pt idx="3">
                  <c:v>-0.41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38D-414B-8452-96FBC048C5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  <c:spPr>
        <a:solidFill>
          <a:srgbClr val="252525"/>
        </a:solidFill>
      </c:spPr>
    </c:plotArea>
    <c:plotVisOnly val="1"/>
    <c:dispBlanksAs val="gap"/>
    <c:showDLblsOverMax val="1"/>
  </c:chart>
  <c:spPr>
    <a:solidFill>
      <a:srgbClr val="252525"/>
    </a:solidFill>
    <a:ln>
      <a:noFill/>
    </a:ln>
  </c:spPr>
  <c:txPr>
    <a:bodyPr/>
    <a:lstStyle/>
    <a:p>
      <a:pPr>
        <a:defRPr sz="1800">
          <a:solidFill>
            <a:schemeClr val="bg1"/>
          </a:solidFill>
        </a:defRPr>
      </a:pPr>
      <a:endParaRPr lang="pt-B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ED145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Recall alta</c:v>
                </c:pt>
                <c:pt idx="1">
                  <c:v>F1 alta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0.49</c:v>
                </c:pt>
                <c:pt idx="1">
                  <c:v>0.52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948-4CD4-B26E-F6924C87479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</c:scaling>
        <c:delete val="0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  <c:spPr>
        <a:solidFill>
          <a:srgbClr val="252525"/>
        </a:solidFill>
      </c:spPr>
    </c:plotArea>
    <c:plotVisOnly val="1"/>
    <c:dispBlanksAs val="gap"/>
    <c:showDLblsOverMax val="1"/>
  </c:chart>
  <c:spPr>
    <a:solidFill>
      <a:srgbClr val="252525"/>
    </a:solidFill>
  </c:spPr>
  <c:txPr>
    <a:bodyPr/>
    <a:lstStyle/>
    <a:p>
      <a:pPr>
        <a:defRPr sz="1800">
          <a:solidFill>
            <a:schemeClr val="bg1"/>
          </a:solidFill>
        </a:defRPr>
      </a:pPr>
      <a:endParaRPr lang="pt-B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ED145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Acurácia bruta</c:v>
                </c:pt>
                <c:pt idx="1">
                  <c:v>Precisão bruta</c:v>
                </c:pt>
                <c:pt idx="2">
                  <c:v>Recall bruto</c:v>
                </c:pt>
                <c:pt idx="3">
                  <c:v>Recall balanceado</c:v>
                </c:pt>
                <c:pt idx="4">
                  <c:v>F1 padronizado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0.873</c:v>
                </c:pt>
                <c:pt idx="1">
                  <c:v>0.83299999999999996</c:v>
                </c:pt>
                <c:pt idx="2">
                  <c:v>0.27</c:v>
                </c:pt>
                <c:pt idx="3">
                  <c:v>0.67600000000000005</c:v>
                </c:pt>
                <c:pt idx="4">
                  <c:v>0.46300000000000002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BA0-409F-8789-D31280B3936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</c:scaling>
        <c:delete val="0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  <c:spPr>
        <a:solidFill>
          <a:srgbClr val="252525"/>
        </a:solidFill>
      </c:spPr>
    </c:plotArea>
    <c:plotVisOnly val="1"/>
    <c:dispBlanksAs val="gap"/>
    <c:showDLblsOverMax val="1"/>
  </c:chart>
  <c:spPr>
    <a:solidFill>
      <a:srgbClr val="252525"/>
    </a:solidFill>
  </c:spPr>
  <c:txPr>
    <a:bodyPr/>
    <a:lstStyle/>
    <a:p>
      <a:pPr>
        <a:defRPr sz="1800">
          <a:solidFill>
            <a:schemeClr val="bg1"/>
          </a:solidFill>
        </a:defRPr>
      </a:pPr>
      <a:endParaRPr lang="pt-B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ED145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Recall alta</c:v>
                </c:pt>
                <c:pt idx="1">
                  <c:v>F1 alta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0.73</c:v>
                </c:pt>
                <c:pt idx="1">
                  <c:v>0.61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E38-49D7-BA85-2AE8AC7371A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</c:scaling>
        <c:delete val="0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spPr>
    <a:solidFill>
      <a:srgbClr val="252525"/>
    </a:solidFill>
    <a:ln>
      <a:noFill/>
    </a:ln>
  </c:spPr>
  <c:txPr>
    <a:bodyPr/>
    <a:lstStyle/>
    <a:p>
      <a:pPr>
        <a:defRPr sz="1800">
          <a:solidFill>
            <a:schemeClr val="bg1"/>
          </a:solidFill>
        </a:defRPr>
      </a:pPr>
      <a:endParaRPr lang="pt-B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ED145B"/>
            </a:solidFill>
          </c:spPr>
          <c:invertIfNegative val="1"/>
          <c:dLbls>
            <c:dLbl>
              <c:idx val="0"/>
              <c:layout>
                <c:manualLayout>
                  <c:x val="-1.827485380116959E-3"/>
                  <c:y val="-6.172839506172839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99A-477C-AE33-2C19CE33D2CD}"/>
                </c:ext>
              </c:extLst>
            </c:dLbl>
            <c:dLbl>
              <c:idx val="1"/>
              <c:layout>
                <c:manualLayout>
                  <c:x val="3.6549707602339179E-3"/>
                  <c:y val="-2.70061728395062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99A-477C-AE33-2C19CE33D2CD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KNN</c:v>
                </c:pt>
                <c:pt idx="1">
                  <c:v>Logística pad.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0.52</c:v>
                </c:pt>
                <c:pt idx="1">
                  <c:v>0.46300000000000002</c:v>
                </c:pt>
                <c:pt idx="2">
                  <c:v>0.61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99A-477C-AE33-2C19CE33D2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</c:scaling>
        <c:delete val="0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spPr>
    <a:solidFill>
      <a:srgbClr val="252525"/>
    </a:solidFill>
    <a:ln>
      <a:noFill/>
    </a:ln>
  </c:spPr>
  <c:txPr>
    <a:bodyPr/>
    <a:lstStyle/>
    <a:p>
      <a:pPr>
        <a:defRPr sz="1800">
          <a:solidFill>
            <a:schemeClr val="bg1"/>
          </a:solidFill>
        </a:defRPr>
      </a:pPr>
      <a:endParaRPr lang="pt-B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FB7BE1-990E-4A6A-BD03-94923E8FA2A4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905841-EA8A-4AB8-BA6D-FB1C1FBF1D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001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3e6170271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3e6170271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3e6170271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3e6170271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5652151A-EA86-2403-F797-91799D252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3e6170271_0_145:notes">
            <a:extLst>
              <a:ext uri="{FF2B5EF4-FFF2-40B4-BE49-F238E27FC236}">
                <a16:creationId xmlns:a16="http://schemas.microsoft.com/office/drawing/2014/main" id="{A4A3D860-FBEA-57F0-535E-AB55AF7EBC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3e6170271_0_145:notes">
            <a:extLst>
              <a:ext uri="{FF2B5EF4-FFF2-40B4-BE49-F238E27FC236}">
                <a16:creationId xmlns:a16="http://schemas.microsoft.com/office/drawing/2014/main" id="{7009DDF1-D0B8-F161-BF2F-D206A83136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8814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05841-EA8A-4AB8-BA6D-FB1C1FBF1DD8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24159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6B72D8AA-3A4F-BF42-43F8-949692C51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3e6170271_0_145:notes">
            <a:extLst>
              <a:ext uri="{FF2B5EF4-FFF2-40B4-BE49-F238E27FC236}">
                <a16:creationId xmlns:a16="http://schemas.microsoft.com/office/drawing/2014/main" id="{E6E1F481-AC4C-8423-F5CE-70F6A2858E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3e6170271_0_145:notes">
            <a:extLst>
              <a:ext uri="{FF2B5EF4-FFF2-40B4-BE49-F238E27FC236}">
                <a16:creationId xmlns:a16="http://schemas.microsoft.com/office/drawing/2014/main" id="{3A5B2447-F9E5-B084-2FD9-DB525182E6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5439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6619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A016C26-9A56-E87E-2DE8-455333C4E0C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39587" y="63500"/>
            <a:ext cx="538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C1F6FFE-A522-5264-A1D2-EE3D948C74C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39587" y="6642100"/>
            <a:ext cx="538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390467" y="1358467"/>
            <a:ext cx="7363200" cy="14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2400">
              <a:solidFill>
                <a:schemeClr val="lt2"/>
              </a:solidFill>
            </a:endParaRPr>
          </a:p>
        </p:txBody>
      </p:sp>
      <p:pic>
        <p:nvPicPr>
          <p:cNvPr id="55" name="Google Shape;55;p13" title="Apresentação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12191996" cy="6858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8B3EA75-E3A3-E9A5-6F4D-9B20B1772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282" y="4143357"/>
            <a:ext cx="714475" cy="7103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6B33AF-89E1-38C9-38B8-85B4881EFB59}"/>
              </a:ext>
            </a:extLst>
          </p:cNvPr>
          <p:cNvSpPr txBox="1"/>
          <p:nvPr/>
        </p:nvSpPr>
        <p:spPr>
          <a:xfrm>
            <a:off x="1517282" y="4066177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232326"/>
                </a:solidFill>
                <a:latin typeface="Aptos"/>
              </a:defRPr>
            </a:pPr>
            <a:r>
              <a:rPr lang="pt-BR" sz="4000" dirty="0">
                <a:solidFill>
                  <a:srgbClr val="ED145B"/>
                </a:solidFill>
              </a:rPr>
              <a:t>2</a:t>
            </a:r>
            <a:endParaRPr sz="4000" dirty="0">
              <a:solidFill>
                <a:srgbClr val="ED145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 title="Apresentação_Prancheta 2 cópi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1"/>
            <a:ext cx="12191996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2929800" y="2832833"/>
            <a:ext cx="6332400" cy="11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defRPr sz="2000">
                <a:solidFill>
                  <a:srgbClr val="303030"/>
                </a:solidFill>
              </a:defRPr>
            </a:pPr>
            <a:r>
              <a:rPr lang="pt-BR" sz="3600" dirty="0">
                <a:solidFill>
                  <a:schemeClr val="bg1"/>
                </a:solidFill>
                <a:latin typeface="Aptos" panose="020B0004020202020204" pitchFamily="34" charset="0"/>
                <a:ea typeface="Montserrat Medium"/>
                <a:cs typeface="Montserrat Medium"/>
                <a:sym typeface="Montserrat Medium"/>
              </a:rPr>
              <a:t>SÚMARIO</a:t>
            </a:r>
            <a:endParaRPr sz="7200" dirty="0">
              <a:solidFill>
                <a:schemeClr val="bg1"/>
              </a:solidFill>
              <a:latin typeface="Aptos" panose="020B0004020202020204" pitchFamily="34" charset="0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D145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ROTEIRO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SUMÁRIO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O caminho da evidência até a recomendação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6459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TECH CHALLENGE 02  •  WINE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0058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01  </a:t>
            </a:r>
            <a:r>
              <a:rPr dirty="0" err="1">
                <a:solidFill>
                  <a:srgbClr val="FFFFFF"/>
                </a:solidFill>
              </a:rPr>
              <a:t>Introdução</a:t>
            </a:r>
            <a:r>
              <a:rPr dirty="0">
                <a:solidFill>
                  <a:srgbClr val="FFFFFF"/>
                </a:solidFill>
              </a:rPr>
              <a:t> e </a:t>
            </a:r>
            <a:r>
              <a:rPr dirty="0" err="1">
                <a:solidFill>
                  <a:srgbClr val="FFFFFF"/>
                </a:solidFill>
              </a:rPr>
              <a:t>objetivo</a:t>
            </a:r>
            <a:endParaRPr dirty="0">
              <a:solidFill>
                <a:srgbClr val="FFFFFF"/>
              </a:solidFill>
            </a:endParaRPr>
          </a:p>
          <a:p>
            <a:pPr>
              <a:spcAft>
                <a:spcPts val="1000"/>
              </a:spcAft>
              <a:defRPr sz="2200" b="0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02  </a:t>
            </a:r>
            <a:r>
              <a:rPr dirty="0" err="1">
                <a:solidFill>
                  <a:srgbClr val="FFFFFF"/>
                </a:solidFill>
              </a:rPr>
              <a:t>Entendimento</a:t>
            </a:r>
            <a:r>
              <a:rPr dirty="0">
                <a:solidFill>
                  <a:srgbClr val="FFFFFF"/>
                </a:solidFill>
              </a:rPr>
              <a:t> da base e </a:t>
            </a:r>
            <a:r>
              <a:rPr dirty="0" err="1">
                <a:solidFill>
                  <a:srgbClr val="FFFFFF"/>
                </a:solidFill>
              </a:rPr>
              <a:t>desequilíbrio</a:t>
            </a:r>
            <a:r>
              <a:rPr dirty="0">
                <a:solidFill>
                  <a:srgbClr val="FFFFFF"/>
                </a:solidFill>
              </a:rPr>
              <a:t> das classes</a:t>
            </a:r>
          </a:p>
          <a:p>
            <a:pPr>
              <a:spcAft>
                <a:spcPts val="1000"/>
              </a:spcAft>
              <a:defRPr sz="2200" b="0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03  </a:t>
            </a:r>
            <a:r>
              <a:rPr dirty="0" err="1">
                <a:solidFill>
                  <a:srgbClr val="FFFFFF"/>
                </a:solidFill>
              </a:rPr>
              <a:t>Análise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exploratória</a:t>
            </a:r>
            <a:r>
              <a:rPr dirty="0">
                <a:solidFill>
                  <a:srgbClr val="FFFFFF"/>
                </a:solidFill>
              </a:rPr>
              <a:t> e </a:t>
            </a:r>
            <a:r>
              <a:rPr dirty="0" err="1">
                <a:solidFill>
                  <a:srgbClr val="FFFFFF"/>
                </a:solidFill>
              </a:rPr>
              <a:t>seleção</a:t>
            </a:r>
            <a:r>
              <a:rPr dirty="0">
                <a:solidFill>
                  <a:srgbClr val="FFFFFF"/>
                </a:solidFill>
              </a:rPr>
              <a:t> de </a:t>
            </a:r>
            <a:r>
              <a:rPr dirty="0" err="1">
                <a:solidFill>
                  <a:srgbClr val="FFFFFF"/>
                </a:solidFill>
              </a:rPr>
              <a:t>variáveis</a:t>
            </a:r>
            <a:endParaRPr dirty="0">
              <a:solidFill>
                <a:srgbClr val="FFFFFF"/>
              </a:solidFill>
            </a:endParaRPr>
          </a:p>
          <a:p>
            <a:pPr>
              <a:spcAft>
                <a:spcPts val="1000"/>
              </a:spcAft>
              <a:defRPr sz="2200" b="0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04  </a:t>
            </a:r>
            <a:r>
              <a:rPr dirty="0" err="1">
                <a:solidFill>
                  <a:srgbClr val="FFFFFF"/>
                </a:solidFill>
              </a:rPr>
              <a:t>Preparação</a:t>
            </a:r>
            <a:r>
              <a:rPr dirty="0">
                <a:solidFill>
                  <a:srgbClr val="FFFFFF"/>
                </a:solidFill>
              </a:rPr>
              <a:t> e </a:t>
            </a:r>
            <a:r>
              <a:rPr dirty="0" err="1">
                <a:solidFill>
                  <a:srgbClr val="FFFFFF"/>
                </a:solidFill>
              </a:rPr>
              <a:t>experimentos</a:t>
            </a:r>
            <a:endParaRPr dirty="0">
              <a:solidFill>
                <a:srgbClr val="FFFFFF"/>
              </a:solidFill>
            </a:endParaRPr>
          </a:p>
          <a:p>
            <a:pPr>
              <a:spcAft>
                <a:spcPts val="1000"/>
              </a:spcAft>
              <a:defRPr sz="2200" b="0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05  </a:t>
            </a:r>
            <a:r>
              <a:rPr dirty="0" err="1">
                <a:solidFill>
                  <a:srgbClr val="FFFFFF"/>
                </a:solidFill>
              </a:rPr>
              <a:t>Comparação</a:t>
            </a:r>
            <a:r>
              <a:rPr dirty="0">
                <a:solidFill>
                  <a:srgbClr val="FFFFFF"/>
                </a:solidFill>
              </a:rPr>
              <a:t> de </a:t>
            </a:r>
            <a:r>
              <a:rPr dirty="0" err="1">
                <a:solidFill>
                  <a:srgbClr val="FFFFFF"/>
                </a:solidFill>
              </a:rPr>
              <a:t>modelos</a:t>
            </a:r>
            <a:r>
              <a:rPr dirty="0">
                <a:solidFill>
                  <a:srgbClr val="FFFFFF"/>
                </a:solidFill>
              </a:rPr>
              <a:t> e trade-offs</a:t>
            </a:r>
          </a:p>
          <a:p>
            <a:pPr>
              <a:spcAft>
                <a:spcPts val="1000"/>
              </a:spcAft>
              <a:defRPr sz="2200" b="0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06  Random Forest: </a:t>
            </a:r>
            <a:r>
              <a:rPr dirty="0" err="1">
                <a:solidFill>
                  <a:srgbClr val="FFFFFF"/>
                </a:solidFill>
              </a:rPr>
              <a:t>decisão</a:t>
            </a:r>
            <a:r>
              <a:rPr dirty="0">
                <a:solidFill>
                  <a:srgbClr val="FFFFFF"/>
                </a:solidFill>
              </a:rPr>
              <a:t> e </a:t>
            </a:r>
            <a:r>
              <a:rPr dirty="0" err="1">
                <a:solidFill>
                  <a:srgbClr val="FFFFFF"/>
                </a:solidFill>
              </a:rPr>
              <a:t>próximos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passos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 title="Apresentação_Prancheta 2 cópi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1"/>
            <a:ext cx="12191996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2929800" y="2832833"/>
            <a:ext cx="6332400" cy="11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defRPr sz="2000">
                <a:solidFill>
                  <a:srgbClr val="303030"/>
                </a:solidFill>
              </a:defRPr>
            </a:pPr>
            <a:r>
              <a:rPr sz="3200" b="1" dirty="0">
                <a:solidFill>
                  <a:schemeClr val="bg1"/>
                </a:solidFill>
                <a:latin typeface="Aptos" panose="020B0004020202020204" pitchFamily="34" charset="0"/>
              </a:rPr>
              <a:t>INTRODUÇÃO</a:t>
            </a:r>
            <a:endParaRPr sz="3200" b="1" dirty="0">
              <a:solidFill>
                <a:schemeClr val="bg1"/>
              </a:solidFill>
              <a:latin typeface="Aptos" panose="020B0004020202020204" pitchFamily="34" charset="0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D145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INTRODUÇÃO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 avaliação sensorial é essencial, mas pode ser apoiada por dados físico-químicos.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6459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TECH CHALLENGE 02  •  WINE QUALITY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86000"/>
            <a:ext cx="5349240" cy="2743200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286000"/>
            <a:ext cx="64008" cy="27432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487168"/>
            <a:ext cx="493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145B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O DESAFIO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72384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Antecipar a classificação da qualidade do vinho a partir de medições laboratoriais.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86000"/>
            <a:ext cx="5349240" cy="2743200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64008" cy="27432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487168"/>
            <a:ext cx="493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145B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O OBJETIVO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072384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Classificar alta qualidade (nota ≥ 7) versus baixa/média qualidade (nota &lt; 7).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39C34D61-0BCF-A435-701F-53F771A2F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 title="Apresentação_Prancheta 2 cópia.png">
            <a:extLst>
              <a:ext uri="{FF2B5EF4-FFF2-40B4-BE49-F238E27FC236}">
                <a16:creationId xmlns:a16="http://schemas.microsoft.com/office/drawing/2014/main" id="{A29F0882-551E-FC79-6B10-6065464E2A2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1"/>
            <a:ext cx="12191996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FD74542D-5475-3D29-2E01-9535BA6D5D85}"/>
              </a:ext>
            </a:extLst>
          </p:cNvPr>
          <p:cNvSpPr txBox="1"/>
          <p:nvPr/>
        </p:nvSpPr>
        <p:spPr>
          <a:xfrm>
            <a:off x="2929800" y="2832833"/>
            <a:ext cx="6332400" cy="11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defRPr sz="2000">
                <a:solidFill>
                  <a:srgbClr val="303030"/>
                </a:solidFill>
              </a:defRPr>
            </a:pPr>
            <a:r>
              <a:rPr lang="pt-BR" sz="3200" b="1" dirty="0">
                <a:solidFill>
                  <a:schemeClr val="bg1"/>
                </a:solidFill>
                <a:latin typeface="Aptos" panose="020B0004020202020204" pitchFamily="34" charset="0"/>
              </a:rPr>
              <a:t>ANALISE EXPLORATORIA</a:t>
            </a:r>
          </a:p>
        </p:txBody>
      </p:sp>
    </p:spTree>
    <p:extLst>
      <p:ext uri="{BB962C8B-B14F-4D97-AF65-F5344CB8AC3E}">
        <p14:creationId xmlns:p14="http://schemas.microsoft.com/office/powerpoint/2010/main" val="1700424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D145B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COMO A ANÁLISE FOI CONSTRUÍDA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Etapas exigidas no desafio e implementadas no notebook.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6459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TECH CHALLENGE 02  •  WINE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1. Entendimento do problema e criação do alvo binário</a:t>
            </a:r>
          </a:p>
          <a:p>
            <a:pPr>
              <a:spcAft>
                <a:spcPts val="1000"/>
              </a:spcAft>
              <a:defRPr sz="21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2. Exploração: distribuição, correlações e outliers</a:t>
            </a:r>
          </a:p>
          <a:p>
            <a:pPr>
              <a:spcAft>
                <a:spcPts val="1000"/>
              </a:spcAft>
              <a:defRPr sz="21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3. Separação treino/teste (80/20) e escalonamento</a:t>
            </a:r>
          </a:p>
          <a:p>
            <a:pPr>
              <a:spcAft>
                <a:spcPts val="1000"/>
              </a:spcAft>
              <a:defRPr sz="21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4. Balanceamento da classe minoritária com SMOTE</a:t>
            </a:r>
          </a:p>
          <a:p>
            <a:pPr>
              <a:spcAft>
                <a:spcPts val="1000"/>
              </a:spcAft>
              <a:defRPr sz="21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5. Treinamento, avaliação e interpretação dos modelos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F28C30DE-43B3-4C36-B0E2-8C0F67B6F78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ED145B"/>
                </a:solidFill>
                <a:latin typeface="Aptos" panose="020B0004020202020204"/>
              </a:rPr>
              <a:t>O QUE EXISTE NO DATASET?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252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C6C6C6"/>
                </a:solidFill>
                <a:latin typeface="Arial"/>
              </a:defRPr>
            </a:pPr>
            <a:r>
              <a:t>1.143 amostras • 11 propriedades físico-químicas • nota de qualidade • identificador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rPr dirty="0" err="1"/>
              <a:t>Acidez</a:t>
            </a:r>
            <a:r>
              <a:rPr dirty="0"/>
              <a:t> </a:t>
            </a:r>
            <a:r>
              <a:rPr dirty="0" err="1"/>
              <a:t>fixa</a:t>
            </a:r>
            <a:r>
              <a:rPr dirty="0"/>
              <a:t>: </a:t>
            </a:r>
            <a:r>
              <a:rPr dirty="0" err="1"/>
              <a:t>ácidos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voláteis</a:t>
            </a:r>
            <a:r>
              <a:rPr dirty="0"/>
              <a:t>  •  </a:t>
            </a:r>
            <a:r>
              <a:rPr dirty="0" err="1"/>
              <a:t>Acidez</a:t>
            </a:r>
            <a:r>
              <a:rPr dirty="0"/>
              <a:t> </a:t>
            </a:r>
            <a:r>
              <a:rPr dirty="0" err="1"/>
              <a:t>volátil</a:t>
            </a:r>
            <a:r>
              <a:rPr dirty="0"/>
              <a:t>: </a:t>
            </a:r>
            <a:r>
              <a:rPr dirty="0" err="1"/>
              <a:t>ácidos</a:t>
            </a:r>
            <a:r>
              <a:rPr dirty="0"/>
              <a:t> </a:t>
            </a:r>
            <a:r>
              <a:rPr dirty="0" err="1"/>
              <a:t>voláteis</a:t>
            </a:r>
            <a:endParaRPr dirty="0"/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rPr dirty="0" err="1"/>
              <a:t>Ácido</a:t>
            </a:r>
            <a:r>
              <a:rPr dirty="0"/>
              <a:t> </a:t>
            </a:r>
            <a:r>
              <a:rPr dirty="0" err="1"/>
              <a:t>cítrico</a:t>
            </a:r>
            <a:r>
              <a:rPr dirty="0"/>
              <a:t>: </a:t>
            </a:r>
            <a:r>
              <a:rPr dirty="0" err="1"/>
              <a:t>componente</a:t>
            </a:r>
            <a:r>
              <a:rPr dirty="0"/>
              <a:t> de </a:t>
            </a:r>
            <a:r>
              <a:rPr dirty="0" err="1"/>
              <a:t>acidez</a:t>
            </a:r>
            <a:r>
              <a:rPr dirty="0"/>
              <a:t>  •  </a:t>
            </a:r>
            <a:r>
              <a:rPr dirty="0" err="1"/>
              <a:t>Açúcar</a:t>
            </a:r>
            <a:r>
              <a:rPr dirty="0"/>
              <a:t> residual: </a:t>
            </a:r>
            <a:r>
              <a:rPr dirty="0" err="1"/>
              <a:t>açúcar</a:t>
            </a:r>
            <a:r>
              <a:rPr dirty="0"/>
              <a:t> </a:t>
            </a:r>
            <a:r>
              <a:rPr dirty="0" err="1"/>
              <a:t>remanescente</a:t>
            </a:r>
            <a:endParaRPr dirty="0"/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rPr dirty="0" err="1"/>
              <a:t>Cloretos</a:t>
            </a:r>
            <a:r>
              <a:rPr dirty="0"/>
              <a:t>: </a:t>
            </a:r>
            <a:r>
              <a:rPr dirty="0" err="1"/>
              <a:t>teor</a:t>
            </a:r>
            <a:r>
              <a:rPr dirty="0"/>
              <a:t> de </a:t>
            </a:r>
            <a:r>
              <a:rPr dirty="0" err="1"/>
              <a:t>sais</a:t>
            </a:r>
            <a:r>
              <a:rPr dirty="0"/>
              <a:t>  •  SO₂ livre: </a:t>
            </a:r>
            <a:r>
              <a:rPr dirty="0" err="1"/>
              <a:t>dióxido</a:t>
            </a:r>
            <a:r>
              <a:rPr dirty="0"/>
              <a:t> de </a:t>
            </a:r>
            <a:r>
              <a:rPr dirty="0" err="1"/>
              <a:t>enxofre</a:t>
            </a:r>
            <a:r>
              <a:rPr dirty="0"/>
              <a:t> </a:t>
            </a:r>
            <a:r>
              <a:rPr dirty="0" err="1"/>
              <a:t>disponível</a:t>
            </a:r>
            <a:endParaRPr dirty="0"/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rPr dirty="0"/>
              <a:t>SO₂ total: </a:t>
            </a:r>
            <a:r>
              <a:rPr dirty="0" err="1"/>
              <a:t>frações</a:t>
            </a:r>
            <a:r>
              <a:rPr dirty="0"/>
              <a:t> livre e </a:t>
            </a:r>
            <a:r>
              <a:rPr dirty="0" err="1"/>
              <a:t>combinada</a:t>
            </a:r>
            <a:r>
              <a:rPr dirty="0"/>
              <a:t>  •  </a:t>
            </a:r>
            <a:r>
              <a:rPr dirty="0" err="1"/>
              <a:t>Densidade</a:t>
            </a:r>
            <a:r>
              <a:rPr dirty="0"/>
              <a:t>: </a:t>
            </a:r>
            <a:r>
              <a:rPr dirty="0" err="1"/>
              <a:t>massa</a:t>
            </a:r>
            <a:r>
              <a:rPr dirty="0"/>
              <a:t> por volume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rPr dirty="0"/>
              <a:t>pH: </a:t>
            </a:r>
            <a:r>
              <a:rPr dirty="0" err="1"/>
              <a:t>intensidade</a:t>
            </a:r>
            <a:r>
              <a:rPr dirty="0"/>
              <a:t> da </a:t>
            </a:r>
            <a:r>
              <a:rPr dirty="0" err="1"/>
              <a:t>acidez</a:t>
            </a:r>
            <a:r>
              <a:rPr dirty="0"/>
              <a:t>  •  </a:t>
            </a:r>
            <a:r>
              <a:rPr dirty="0" err="1"/>
              <a:t>Sulfatos</a:t>
            </a:r>
            <a:r>
              <a:rPr dirty="0"/>
              <a:t>: </a:t>
            </a:r>
            <a:r>
              <a:rPr dirty="0" err="1"/>
              <a:t>sais</a:t>
            </a:r>
            <a:r>
              <a:rPr dirty="0"/>
              <a:t> </a:t>
            </a:r>
            <a:r>
              <a:rPr dirty="0" err="1"/>
              <a:t>relacionados</a:t>
            </a:r>
            <a:r>
              <a:rPr dirty="0"/>
              <a:t> à </a:t>
            </a:r>
            <a:r>
              <a:rPr dirty="0" err="1"/>
              <a:t>conservação</a:t>
            </a:r>
            <a:endParaRPr dirty="0"/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rPr dirty="0" err="1"/>
              <a:t>Álcool</a:t>
            </a:r>
            <a:r>
              <a:rPr dirty="0"/>
              <a:t>: </a:t>
            </a:r>
            <a:r>
              <a:rPr dirty="0" err="1"/>
              <a:t>teor</a:t>
            </a:r>
            <a:r>
              <a:rPr dirty="0"/>
              <a:t> </a:t>
            </a:r>
            <a:r>
              <a:rPr dirty="0" err="1"/>
              <a:t>alcoólico</a:t>
            </a:r>
            <a:r>
              <a:rPr dirty="0"/>
              <a:t>  •  Quality: nota </a:t>
            </a:r>
            <a:r>
              <a:rPr dirty="0" err="1"/>
              <a:t>atribuída</a:t>
            </a:r>
            <a:r>
              <a:rPr dirty="0"/>
              <a:t> por </a:t>
            </a:r>
            <a:r>
              <a:rPr dirty="0" err="1"/>
              <a:t>especialistas</a:t>
            </a:r>
            <a:endParaRPr dirty="0"/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rPr dirty="0"/>
              <a:t>Id: </a:t>
            </a:r>
            <a:r>
              <a:rPr dirty="0" err="1"/>
              <a:t>identificador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utilizado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variável</a:t>
            </a:r>
            <a:r>
              <a:rPr dirty="0"/>
              <a:t> </a:t>
            </a:r>
            <a:r>
              <a:rPr dirty="0" err="1"/>
              <a:t>preditora</a:t>
            </a:r>
            <a:endParaRPr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6E72BA2-EE75-42E5-97F1-06B718774728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43D7FA43-20DB-412B-A9F5-477EA3C10253}"/>
              </a:ext>
            </a:extLst>
          </p:cNvPr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D145B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METODOLOGIA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D145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EXPLORAÇÃO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O PRIMEIRO PROBLEMA: CLASSES DESIGUAIS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Notas 7–8 são menos frequentes que notas 3–6.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6459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TECH CHALLENGE 02  •  WINE QUALITY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5486400" cy="3108960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64008" cy="310896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395728"/>
            <a:ext cx="5074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145B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EVIDÊNCIA DO NOTEBOOK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80944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Contagem por nota e por classe binária, histogramas e countplots identificaram forte desbalanceamento.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94560"/>
            <a:ext cx="5212080" cy="3108960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2194560"/>
            <a:ext cx="64008" cy="310896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2395728"/>
            <a:ext cx="480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145B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IMPLICAÇÃO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980944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Um modelo que prevê apenas “baixa/média” pode ter acurácia alta e não reconhecer nenhum vinho especial.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080AB308-3AA9-40B7-B400-4EF26042502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ED145B"/>
                </a:solidFill>
                <a:latin typeface="Aptos" panose="020B0004020202020204"/>
              </a:rPr>
              <a:t>A MAIORIA DOS VINHOS NÃO É DE ALTA QUALIDADE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252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C6C6C6"/>
                </a:solidFill>
                <a:latin typeface="Arial"/>
              </a:defRPr>
            </a:pPr>
            <a:r>
              <a:t>984 amostras com notas 3–6 versus 159 com notas 7–8</a:t>
            </a:r>
          </a:p>
        </p:txBody>
      </p:sp>
      <p:pic>
        <p:nvPicPr>
          <p:cNvPr id="6" name="Picture 5" descr="evid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37944"/>
            <a:ext cx="10927080" cy="4251960"/>
          </a:xfrm>
          <a:prstGeom prst="rect">
            <a:avLst/>
          </a:prstGeom>
          <a:solidFill>
            <a:srgbClr val="252525"/>
          </a:solidFill>
        </p:spPr>
      </p:pic>
      <p:sp>
        <p:nvSpPr>
          <p:cNvPr id="7" name="TextBox 6"/>
          <p:cNvSpPr txBox="1"/>
          <p:nvPr/>
        </p:nvSpPr>
        <p:spPr>
          <a:xfrm>
            <a:off x="685800" y="6089904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C6C6C6"/>
                </a:solidFill>
                <a:latin typeface="Arial"/>
              </a:defRPr>
            </a:pPr>
            <a:r>
              <a:rPr dirty="0"/>
              <a:t>Fonte: WineQT.csv • </a:t>
            </a:r>
            <a:r>
              <a:rPr dirty="0" err="1"/>
              <a:t>classificação</a:t>
            </a:r>
            <a:r>
              <a:rPr dirty="0"/>
              <a:t> </a:t>
            </a:r>
            <a:r>
              <a:rPr dirty="0" err="1"/>
              <a:t>binária</a:t>
            </a:r>
            <a:r>
              <a:rPr dirty="0"/>
              <a:t>: nota ≥ 7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7909ED5-438B-4BC5-9305-57D4E0E80142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59E04512-FDBE-468D-9826-FFF69F36B3F1}"/>
              </a:ext>
            </a:extLst>
          </p:cNvPr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D145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EXPLORAÇÃO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D145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EXPLORAÇÃO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QUAIS CARACTERÍSTICAS SINALIZAM QUALIDADE?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Correlação de Pearson com a nota original “quality”, calculada no notebook.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6459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TECH CHALLENGE 02  •  WINE QUALITY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996795"/>
              </p:ext>
            </p:extLst>
          </p:nvPr>
        </p:nvGraphicFramePr>
        <p:xfrm>
          <a:off x="640080" y="2057400"/>
          <a:ext cx="67665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589520" y="2103120"/>
            <a:ext cx="3931920" cy="3520440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89520" y="2103120"/>
            <a:ext cx="64008" cy="352044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18120" y="2304288"/>
            <a:ext cx="3520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145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LEITURA EXECUTIVA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889503"/>
            <a:ext cx="34747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Álcool (+0,48) e acidez volátil (−0,41) mostram as associações mais fortes. Sulfatos (+0,26) e ácido cítrico (+0,24) complementam o sinal.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D145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EXPLORAÇÃO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232326"/>
                </a:solidFill>
                <a:latin typeface="Aptos"/>
              </a:defRPr>
            </a:pPr>
            <a:r>
              <a:rPr lang="pt-BR" dirty="0">
                <a:solidFill>
                  <a:srgbClr val="ED145B"/>
                </a:solidFill>
              </a:rPr>
              <a:t>A MATRIZ DE CORRELAÇÃO REVELA AS RELAÇÕES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6459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232326"/>
                </a:solidFill>
                <a:latin typeface="Aptos"/>
              </a:defRPr>
            </a:pPr>
            <a:r>
              <a:rPr lang="pt-BR" dirty="0">
                <a:solidFill>
                  <a:srgbClr val="FFFFFF"/>
                </a:solidFill>
              </a:rPr>
              <a:t>TECH CHALLENGE 02  •  WINE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8899" y="6163278"/>
            <a:ext cx="43322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145B"/>
                </a:solidFill>
                <a:latin typeface="Aptos"/>
              </a:defRPr>
            </a:pPr>
            <a:r>
              <a:rPr lang="pt-BR" sz="1000" dirty="0">
                <a:solidFill>
                  <a:schemeClr val="bg1"/>
                </a:solidFill>
              </a:rPr>
              <a:t>Correlação não implica causalidade; variável </a:t>
            </a:r>
            <a:r>
              <a:rPr lang="pt-BR" sz="1000" dirty="0" err="1">
                <a:solidFill>
                  <a:schemeClr val="bg1"/>
                </a:solidFill>
              </a:rPr>
              <a:t>quality</a:t>
            </a:r>
            <a:r>
              <a:rPr lang="pt-BR" sz="1000" dirty="0">
                <a:solidFill>
                  <a:schemeClr val="bg1"/>
                </a:solidFill>
              </a:rPr>
              <a:t> não entra como preditora.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4066FBB6-3342-4E94-B97C-E4CF80361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714" y="1543003"/>
            <a:ext cx="8894652" cy="4691375"/>
          </a:xfrm>
          <a:prstGeom prst="rect">
            <a:avLst/>
          </a:prstGeom>
        </p:spPr>
      </p:pic>
      <p:sp>
        <p:nvSpPr>
          <p:cNvPr id="16" name="TextBox 4">
            <a:extLst>
              <a:ext uri="{FF2B5EF4-FFF2-40B4-BE49-F238E27FC236}">
                <a16:creationId xmlns:a16="http://schemas.microsoft.com/office/drawing/2014/main" id="{B35C2DD3-B046-4CE8-ACFF-E20F2D96D852}"/>
              </a:ext>
            </a:extLst>
          </p:cNvPr>
          <p:cNvSpPr txBox="1"/>
          <p:nvPr/>
        </p:nvSpPr>
        <p:spPr>
          <a:xfrm>
            <a:off x="502920" y="1179368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C6C6C6"/>
                </a:solidFill>
                <a:latin typeface="Arial"/>
              </a:defRPr>
            </a:pPr>
            <a:r>
              <a:rPr lang="pt-BR" dirty="0"/>
              <a:t>Primeiro avaliamos todas as variáveis; depois selecionamos as quatro mais relacionadas à nota.</a:t>
            </a:r>
          </a:p>
        </p:txBody>
      </p:sp>
    </p:spTree>
    <p:extLst>
      <p:ext uri="{BB962C8B-B14F-4D97-AF65-F5344CB8AC3E}">
        <p14:creationId xmlns:p14="http://schemas.microsoft.com/office/powerpoint/2010/main" val="2197908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D145B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EXPLORAÇÃO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POR QUE ESTAS QUATRO VARIÁVEIS?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Da matriz de correlação à seleção das entradas do modelo.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6459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TECH CHALLENGE 02  •  WINE QUALITY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5486400" cy="3291840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64008" cy="329184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350008"/>
            <a:ext cx="5074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145B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EVIDÊNCIA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35224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O notebook calculou a matriz de Pearson e examinou dispersões de quality × alcohol, volatile acidity, sulphates e citric acid.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48840"/>
            <a:ext cx="5212080" cy="3291840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2148840"/>
            <a:ext cx="64008" cy="329184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2350008"/>
            <a:ext cx="480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145B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DECISÃO DE MODELAGEM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935224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X = [volatile acidity, alcohol, sulphates, citric acid]. A seleção reflete associações exploratórias; não comprova causalidade nem importância preditiva isolada.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86036F3E-ED7C-4798-9F34-906E54D71F6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ED145B"/>
                </a:solidFill>
                <a:latin typeface="Arial"/>
              </a:defRPr>
            </a:pPr>
            <a:r>
              <a:t>TECH CHALLENGE 02  •  WINE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ED145B"/>
                </a:solidFill>
                <a:latin typeface="Aptos" panose="020B0004020202020204"/>
              </a:rPr>
              <a:t>OS BOXPLOTS MOSTRAM VALORES EXTREMOS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252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C6C6C6"/>
                </a:solidFill>
                <a:latin typeface="Arial"/>
              </a:defRPr>
            </a:pPr>
            <a:r>
              <a:t>A dispersão e os outliers justificam avaliar diferentes estratégias de preparação.</a:t>
            </a:r>
          </a:p>
        </p:txBody>
      </p:sp>
      <p:pic>
        <p:nvPicPr>
          <p:cNvPr id="6" name="Picture 5" descr="evid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62100"/>
            <a:ext cx="10927080" cy="4811268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BCC88A04-8785-414D-B104-26B296939C07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D145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EXPLORAÇÃO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OUTLIERS: O DADO NÃO É PERFEITO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Boxplots foram utilizados para investigar valores extremos.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6459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TECH CHALLENGE 02  •  WINE QUALITY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5486400" cy="3108960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64008" cy="310896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395728"/>
            <a:ext cx="5074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145B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ACHADO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80944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O notebook relata muitos outliers em acidez fixa, cloretos, sulfatos e açúcar residual.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94560"/>
            <a:ext cx="5212080" cy="3108960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2194560"/>
            <a:ext cx="64008" cy="310896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2395728"/>
            <a:ext cx="480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145B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CONSEQUÊNCIA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980944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É importante comparar abordagens com comportamentos distintos diante de valores extremos e relações não lineares.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D145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PREPARAÇÃO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COMO GARANTIMOS UMA COMPARAÇÃO JUSTA?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Separação e transformações documentadas no notebook.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6459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TECH CHALLENGE 02  •  WINE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80% TREINO / 20% TESTE  •  random_state = 99</a:t>
            </a:r>
          </a:p>
          <a:p>
            <a:pPr>
              <a:spcAft>
                <a:spcPts val="1000"/>
              </a:spcAft>
              <a:defRPr sz="2100" b="0">
                <a:solidFill>
                  <a:srgbClr val="232326"/>
                </a:solidFill>
                <a:latin typeface="Aptos"/>
              </a:defRPr>
            </a:pPr>
            <a:endParaRPr>
              <a:solidFill>
                <a:srgbClr val="FFFFFF"/>
              </a:solidFill>
            </a:endParaRPr>
          </a:p>
          <a:p>
            <a:pPr>
              <a:spcAft>
                <a:spcPts val="1000"/>
              </a:spcAft>
              <a:defRPr sz="21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MinMaxScaler e StandardScaler ajustados no treino</a:t>
            </a:r>
          </a:p>
          <a:p>
            <a:pPr>
              <a:spcAft>
                <a:spcPts val="1000"/>
              </a:spcAft>
              <a:defRPr sz="2100" b="0">
                <a:solidFill>
                  <a:srgbClr val="232326"/>
                </a:solidFill>
                <a:latin typeface="Aptos"/>
              </a:defRPr>
            </a:pPr>
            <a:endParaRPr>
              <a:solidFill>
                <a:srgbClr val="FFFFFF"/>
              </a:solidFill>
            </a:endParaRPr>
          </a:p>
          <a:p>
            <a:pPr>
              <a:spcAft>
                <a:spcPts val="1000"/>
              </a:spcAft>
              <a:defRPr sz="21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SMOTE aplicado à classe minoritária no treino</a:t>
            </a:r>
          </a:p>
          <a:p>
            <a:pPr>
              <a:spcAft>
                <a:spcPts val="1000"/>
              </a:spcAft>
              <a:defRPr sz="2100" b="0">
                <a:solidFill>
                  <a:srgbClr val="232326"/>
                </a:solidFill>
                <a:latin typeface="Aptos"/>
              </a:defRPr>
            </a:pPr>
            <a:endParaRPr>
              <a:solidFill>
                <a:srgbClr val="FFFFFF"/>
              </a:solidFill>
            </a:endParaRPr>
          </a:p>
          <a:p>
            <a:pPr>
              <a:spcAft>
                <a:spcPts val="1000"/>
              </a:spcAft>
              <a:defRPr sz="21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O mesmo conjunto de teste foi utilizado para avaliar as previsões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D145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AVALIAÇÃO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POR QUE ACURÁCIA NÃO BASTA?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O foco é encontrar os vinhos de alta qualidade.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6459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TECH CHALLENGE 02  •  WINE QUALITY                                     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5349240" cy="2926080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64008" cy="292608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395728"/>
            <a:ext cx="493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145B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RECALL — ALTA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80944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Dos vinhos realmente bons, quantos o modelo encontra? Evita perder oportunidades.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94560"/>
            <a:ext cx="5349240" cy="2926080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2194560"/>
            <a:ext cx="64008" cy="292608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395728"/>
            <a:ext cx="493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145B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F1 — ALTA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980944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Equilibra a identificação dos vinhos bons com a confiabilidade dos alertas.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FF72676D-32BA-78F4-A444-AC8CE581D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 title="Apresentação_Prancheta 2 cópia.png">
            <a:extLst>
              <a:ext uri="{FF2B5EF4-FFF2-40B4-BE49-F238E27FC236}">
                <a16:creationId xmlns:a16="http://schemas.microsoft.com/office/drawing/2014/main" id="{B5287C77-38D6-1F6E-56D6-A0A7920557D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1"/>
            <a:ext cx="12191996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EE130DA6-ED50-1F27-098C-7182F3463760}"/>
              </a:ext>
            </a:extLst>
          </p:cNvPr>
          <p:cNvSpPr txBox="1"/>
          <p:nvPr/>
        </p:nvSpPr>
        <p:spPr>
          <a:xfrm>
            <a:off x="2929800" y="2832833"/>
            <a:ext cx="6332400" cy="11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defRPr sz="2000">
                <a:solidFill>
                  <a:srgbClr val="303030"/>
                </a:solidFill>
              </a:defRPr>
            </a:pPr>
            <a:r>
              <a:rPr lang="pt-BR" sz="3200" b="1" dirty="0">
                <a:solidFill>
                  <a:schemeClr val="bg1"/>
                </a:solidFill>
                <a:latin typeface="Aptos" panose="020B0004020202020204" pitchFamily="34" charset="0"/>
              </a:rPr>
              <a:t>MODELOS DE </a:t>
            </a:r>
          </a:p>
          <a:p>
            <a:pPr algn="ctr">
              <a:defRPr sz="2000">
                <a:solidFill>
                  <a:srgbClr val="303030"/>
                </a:solidFill>
              </a:defRPr>
            </a:pPr>
            <a:r>
              <a:rPr lang="pt-BR" sz="3200" b="1" dirty="0">
                <a:solidFill>
                  <a:schemeClr val="bg1"/>
                </a:solidFill>
                <a:latin typeface="Aptos" panose="020B0004020202020204" pitchFamily="34" charset="0"/>
              </a:rPr>
              <a:t>MACHINE LEARNING</a:t>
            </a:r>
            <a:endParaRPr sz="3200" b="1" dirty="0">
              <a:solidFill>
                <a:schemeClr val="bg1"/>
              </a:solidFill>
              <a:latin typeface="Aptos" panose="020B0004020202020204" pitchFamily="34" charset="0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27985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D145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EXPERIMENTOS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QUAIS MODELOS FORAM TESTADOS?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Do baseline a modelos capazes de representar relações complexas.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6459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TECH CHALLENGE 02  •  WINE QUALITY                                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98480" cy="3749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100" b="0">
                <a:solidFill>
                  <a:srgbClr val="232326"/>
                </a:solidFill>
                <a:latin typeface="Aptos"/>
              </a:defRPr>
            </a:pPr>
            <a:r>
              <a:rPr b="1" dirty="0">
                <a:solidFill>
                  <a:schemeClr val="bg1">
                    <a:lumMod val="95000"/>
                  </a:schemeClr>
                </a:solidFill>
              </a:rPr>
              <a:t>Dummy: </a:t>
            </a:r>
            <a:r>
              <a:rPr b="1" dirty="0" err="1">
                <a:solidFill>
                  <a:schemeClr val="bg1">
                    <a:lumMod val="95000"/>
                  </a:schemeClr>
                </a:solidFill>
              </a:rPr>
              <a:t>referência</a:t>
            </a:r>
            <a:r>
              <a:rPr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b="1" dirty="0" err="1">
                <a:solidFill>
                  <a:schemeClr val="bg1">
                    <a:lumMod val="95000"/>
                  </a:schemeClr>
                </a:solidFill>
              </a:rPr>
              <a:t>mínima</a:t>
            </a:r>
            <a:r>
              <a:rPr b="1" dirty="0">
                <a:solidFill>
                  <a:schemeClr val="bg1">
                    <a:lumMod val="95000"/>
                  </a:schemeClr>
                </a:solidFill>
              </a:rPr>
              <a:t> (</a:t>
            </a:r>
            <a:r>
              <a:rPr b="1" dirty="0" err="1">
                <a:solidFill>
                  <a:schemeClr val="bg1">
                    <a:lumMod val="95000"/>
                  </a:schemeClr>
                </a:solidFill>
              </a:rPr>
              <a:t>classe</a:t>
            </a:r>
            <a:r>
              <a:rPr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b="1" dirty="0" err="1">
                <a:solidFill>
                  <a:schemeClr val="bg1">
                    <a:lumMod val="95000"/>
                  </a:schemeClr>
                </a:solidFill>
              </a:rPr>
              <a:t>majoritária</a:t>
            </a:r>
            <a:r>
              <a:rPr b="1" dirty="0">
                <a:solidFill>
                  <a:schemeClr val="bg1">
                    <a:lumMod val="95000"/>
                  </a:schemeClr>
                </a:solidFill>
              </a:rPr>
              <a:t>)</a:t>
            </a: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100" b="0">
                <a:solidFill>
                  <a:srgbClr val="232326"/>
                </a:solidFill>
                <a:latin typeface="Aptos"/>
              </a:defRPr>
            </a:pPr>
            <a:r>
              <a:rPr b="1" dirty="0">
                <a:solidFill>
                  <a:schemeClr val="bg1">
                    <a:lumMod val="95000"/>
                  </a:schemeClr>
                </a:solidFill>
              </a:rPr>
              <a:t>KNN: </a:t>
            </a:r>
            <a:r>
              <a:rPr b="1" dirty="0" err="1">
                <a:solidFill>
                  <a:schemeClr val="bg1">
                    <a:lumMod val="95000"/>
                  </a:schemeClr>
                </a:solidFill>
              </a:rPr>
              <a:t>semelhança</a:t>
            </a:r>
            <a:r>
              <a:rPr b="1" dirty="0">
                <a:solidFill>
                  <a:schemeClr val="bg1">
                    <a:lumMod val="95000"/>
                  </a:schemeClr>
                </a:solidFill>
              </a:rPr>
              <a:t> entre </a:t>
            </a:r>
            <a:r>
              <a:rPr b="1" dirty="0" err="1">
                <a:solidFill>
                  <a:schemeClr val="bg1">
                    <a:lumMod val="95000"/>
                  </a:schemeClr>
                </a:solidFill>
              </a:rPr>
              <a:t>amostras</a:t>
            </a:r>
            <a:endParaRPr b="1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100" b="0">
                <a:solidFill>
                  <a:srgbClr val="232326"/>
                </a:solidFill>
                <a:latin typeface="Aptos"/>
              </a:defRPr>
            </a:pPr>
            <a:r>
              <a:rPr b="1" dirty="0">
                <a:solidFill>
                  <a:schemeClr val="bg1">
                    <a:lumMod val="95000"/>
                  </a:schemeClr>
                </a:solidFill>
              </a:rPr>
              <a:t>Naive Bayes: </a:t>
            </a:r>
            <a:r>
              <a:rPr b="1" dirty="0" err="1">
                <a:solidFill>
                  <a:schemeClr val="bg1">
                    <a:lumMod val="95000"/>
                  </a:schemeClr>
                </a:solidFill>
              </a:rPr>
              <a:t>abordagem</a:t>
            </a:r>
            <a:r>
              <a:rPr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b="1" dirty="0" err="1">
                <a:solidFill>
                  <a:schemeClr val="bg1">
                    <a:lumMod val="95000"/>
                  </a:schemeClr>
                </a:solidFill>
              </a:rPr>
              <a:t>probabilística</a:t>
            </a:r>
            <a:endParaRPr b="1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100" b="0">
                <a:solidFill>
                  <a:srgbClr val="232326"/>
                </a:solidFill>
                <a:latin typeface="Aptos"/>
              </a:defRPr>
            </a:pPr>
            <a:r>
              <a:rPr b="1" dirty="0" err="1">
                <a:solidFill>
                  <a:schemeClr val="bg1">
                    <a:lumMod val="95000"/>
                  </a:schemeClr>
                </a:solidFill>
              </a:rPr>
              <a:t>Regressão</a:t>
            </a:r>
            <a:r>
              <a:rPr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b="1" dirty="0" err="1">
                <a:solidFill>
                  <a:schemeClr val="bg1">
                    <a:lumMod val="95000"/>
                  </a:schemeClr>
                </a:solidFill>
              </a:rPr>
              <a:t>logística</a:t>
            </a:r>
            <a:r>
              <a:rPr b="1" dirty="0">
                <a:solidFill>
                  <a:schemeClr val="bg1">
                    <a:lumMod val="95000"/>
                  </a:schemeClr>
                </a:solidFill>
              </a:rPr>
              <a:t>: </a:t>
            </a:r>
            <a:r>
              <a:rPr b="1" dirty="0" err="1">
                <a:solidFill>
                  <a:schemeClr val="bg1">
                    <a:lumMod val="95000"/>
                  </a:schemeClr>
                </a:solidFill>
              </a:rPr>
              <a:t>referência</a:t>
            </a:r>
            <a:r>
              <a:rPr b="1" dirty="0">
                <a:solidFill>
                  <a:schemeClr val="bg1">
                    <a:lumMod val="95000"/>
                  </a:schemeClr>
                </a:solidFill>
              </a:rPr>
              <a:t> linear e </a:t>
            </a:r>
            <a:r>
              <a:rPr b="1" dirty="0" err="1">
                <a:solidFill>
                  <a:schemeClr val="bg1">
                    <a:lumMod val="95000"/>
                  </a:schemeClr>
                </a:solidFill>
              </a:rPr>
              <a:t>interpretável</a:t>
            </a:r>
            <a:endParaRPr b="1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100" b="0">
                <a:solidFill>
                  <a:srgbClr val="232326"/>
                </a:solidFill>
                <a:latin typeface="Aptos"/>
              </a:defRPr>
            </a:pPr>
            <a:r>
              <a:rPr b="1" dirty="0">
                <a:solidFill>
                  <a:schemeClr val="bg1">
                    <a:lumMod val="95000"/>
                  </a:schemeClr>
                </a:solidFill>
              </a:rPr>
              <a:t>Random Forest: conjunto de </a:t>
            </a:r>
            <a:r>
              <a:rPr b="1" dirty="0" err="1">
                <a:solidFill>
                  <a:schemeClr val="bg1">
                    <a:lumMod val="95000"/>
                  </a:schemeClr>
                </a:solidFill>
              </a:rPr>
              <a:t>árvores</a:t>
            </a:r>
            <a:r>
              <a:rPr b="1" dirty="0">
                <a:solidFill>
                  <a:schemeClr val="bg1">
                    <a:lumMod val="95000"/>
                  </a:schemeClr>
                </a:solidFill>
              </a:rPr>
              <a:t> para </a:t>
            </a:r>
            <a:r>
              <a:rPr b="1" dirty="0" err="1">
                <a:solidFill>
                  <a:schemeClr val="bg1">
                    <a:lumMod val="95000"/>
                  </a:schemeClr>
                </a:solidFill>
              </a:rPr>
              <a:t>padrões</a:t>
            </a:r>
            <a:r>
              <a:rPr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b="1" dirty="0" err="1">
                <a:solidFill>
                  <a:schemeClr val="bg1">
                    <a:lumMod val="95000"/>
                  </a:schemeClr>
                </a:solidFill>
              </a:rPr>
              <a:t>não</a:t>
            </a:r>
            <a:r>
              <a:rPr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b="1" dirty="0" err="1">
                <a:solidFill>
                  <a:schemeClr val="bg1">
                    <a:lumMod val="95000"/>
                  </a:schemeClr>
                </a:solidFill>
              </a:rPr>
              <a:t>lineares</a:t>
            </a:r>
            <a:endParaRPr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D145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COMPARAÇÃO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O KNN MELHOROU, MAS AINDA PERDE VINHOS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Resultados relatados na conclusão do notebook para KNN com balanceamento e normalização.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6459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TECH CHALLENGE 02  •  WINE QUALITY                                     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455375"/>
              </p:ext>
            </p:extLst>
          </p:nvPr>
        </p:nvGraphicFramePr>
        <p:xfrm>
          <a:off x="914400" y="2194560"/>
          <a:ext cx="6400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98079" y="2194560"/>
            <a:ext cx="3931920" cy="3200400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98079" y="2194560"/>
            <a:ext cx="64008" cy="32004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26679" y="2395728"/>
            <a:ext cx="3520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145B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INTERPRETAÇÃO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980944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Recall de 49% significa que mais da metade dos vinhos de alta qualidade ainda não é reconhecida.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65836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MATRIZ DE CONFUSÃO + CLASSIFICATION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252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C6C6C6"/>
                </a:solidFill>
                <a:latin typeface="Arial"/>
              </a:defRPr>
            </a:pPr>
            <a:r>
              <a:t>KNN balanceado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ED145B"/>
                </a:solidFill>
                <a:latin typeface="Arial"/>
              </a:defRPr>
            </a:pPr>
            <a:r>
              <a:t>MATRIZ DE CONFUSÃO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737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ED145B"/>
                </a:solidFill>
                <a:latin typeface="Arial"/>
              </a:defRPr>
            </a:pPr>
            <a:r>
              <a:t>CLASSIFICATION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2429283"/>
            <a:ext cx="5760720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rPr dirty="0" err="1"/>
              <a:t>Classe</a:t>
            </a:r>
            <a:r>
              <a:rPr dirty="0"/>
              <a:t>       </a:t>
            </a:r>
            <a:r>
              <a:rPr dirty="0" err="1"/>
              <a:t>Precisão</a:t>
            </a:r>
            <a:r>
              <a:rPr dirty="0"/>
              <a:t>    Recall      F1       </a:t>
            </a:r>
            <a:r>
              <a:rPr dirty="0" err="1"/>
              <a:t>Suporte</a:t>
            </a:r>
            <a:endParaRPr dirty="0"/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rPr dirty="0" err="1"/>
              <a:t>Baixa</a:t>
            </a:r>
            <a:r>
              <a:rPr dirty="0"/>
              <a:t>        0.90           0.93        0.92          192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rPr dirty="0"/>
              <a:t>Alta         0.56           0.49        0.52          </a:t>
            </a:r>
            <a:r>
              <a:rPr lang="pt-BR" dirty="0"/>
              <a:t>   </a:t>
            </a:r>
            <a:r>
              <a:rPr dirty="0"/>
              <a:t>37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rPr dirty="0" err="1"/>
              <a:t>Acurácia</a:t>
            </a:r>
            <a:r>
              <a:rPr dirty="0"/>
              <a:t>: 85.6%     |     Teste: 229 </a:t>
            </a:r>
            <a:r>
              <a:rPr dirty="0" err="1"/>
              <a:t>amostras</a:t>
            </a:r>
            <a:endParaRPr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B2F86244-9667-4A8A-B0AF-8D5BBED075FC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6824252F-46A3-4360-B195-0268FC7D9765}"/>
              </a:ext>
            </a:extLst>
          </p:cNvPr>
          <p:cNvSpPr/>
          <p:nvPr/>
        </p:nvSpPr>
        <p:spPr>
          <a:xfrm>
            <a:off x="502920" y="6537960"/>
            <a:ext cx="11155680" cy="16459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584645B8-B936-4AF7-A8CB-0098A72B361B}"/>
              </a:ext>
            </a:extLst>
          </p:cNvPr>
          <p:cNvSpPr txBox="1"/>
          <p:nvPr/>
        </p:nvSpPr>
        <p:spPr>
          <a:xfrm>
            <a:off x="548640" y="6574536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TECH CHALLENGE 02  •  WINE QUALITY                                      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ED9463AA-2337-4D01-9E72-609DB3ABA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29283"/>
            <a:ext cx="5129794" cy="3566167"/>
          </a:xfrm>
          <a:prstGeom prst="rect">
            <a:avLst/>
          </a:prstGeom>
        </p:spPr>
      </p:pic>
      <p:sp>
        <p:nvSpPr>
          <p:cNvPr id="17" name="TextBox 3">
            <a:extLst>
              <a:ext uri="{FF2B5EF4-FFF2-40B4-BE49-F238E27FC236}">
                <a16:creationId xmlns:a16="http://schemas.microsoft.com/office/drawing/2014/main" id="{765A3B28-F346-4C93-A6EB-E25BF34FC23A}"/>
              </a:ext>
            </a:extLst>
          </p:cNvPr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D145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COMPARAÇÃO</a:t>
            </a:r>
          </a:p>
        </p:txBody>
      </p:sp>
    </p:spTree>
    <p:extLst>
      <p:ext uri="{BB962C8B-B14F-4D97-AF65-F5344CB8AC3E}">
        <p14:creationId xmlns:p14="http://schemas.microsoft.com/office/powerpoint/2010/main" val="3291717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D145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COMPARAÇÃO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REGRESSÃO LOGÍSTICA: O TRADE-OFF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Dados brutos favorecem precisão; balanceamento aumenta a captura.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6459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TECH CHALLENGE 02  •  WINE QUALITY                                      13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606883"/>
              </p:ext>
            </p:extLst>
          </p:nvPr>
        </p:nvGraphicFramePr>
        <p:xfrm>
          <a:off x="640080" y="2148840"/>
          <a:ext cx="7315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8138160" y="2194560"/>
            <a:ext cx="3429000" cy="3566160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38160" y="2194560"/>
            <a:ext cx="64008" cy="356616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23957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145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EVIDÊNCIA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980944"/>
            <a:ext cx="2971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Base bruta: 87,3% acurácia, mas apenas 27% recall. Balanceada: recall até 67,6%; melhor F1 relatado: 0,463.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658368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ED145B"/>
                </a:solidFill>
                <a:latin typeface="Aptos" panose="020B0004020202020204"/>
              </a:rPr>
              <a:t>MATRIZ DE CONFUSÃO + CLASSIFICATION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252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C6C6C6"/>
                </a:solidFill>
                <a:latin typeface="Arial"/>
              </a:defRPr>
            </a:pPr>
            <a:r>
              <a:t>Regressão logística balanceada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ED145B"/>
                </a:solidFill>
                <a:latin typeface="Arial"/>
              </a:defRPr>
            </a:pPr>
            <a:r>
              <a:t>MATRIZ DE CONFUSÃO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737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ED145B"/>
                </a:solidFill>
                <a:latin typeface="Arial"/>
              </a:defRPr>
            </a:pPr>
            <a:r>
              <a:t>CLASSIFICATION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2377440"/>
            <a:ext cx="5760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Classe       Precisão    Recall      F1       Suporte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Baixa        0.92           0.78        0.84          192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Alta         0.36           0.65        0.46          37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Acurácia: 75.5%     |     Teste: 229 amostras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C6C6C6"/>
                </a:solidFill>
                <a:latin typeface="Arial"/>
              </a:defRPr>
            </a:pPr>
            <a:r>
              <a:t>Fonte: reprodução dos parâmetros do notebook sobre WineQT.csv • mesma divisão treino/teste (random_state=99)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8B99C182-757F-4522-B2FF-C36B8E979508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84CC29D-C5A4-40A0-B582-B5BF1BDB3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2176272"/>
            <a:ext cx="5214975" cy="3360261"/>
          </a:xfrm>
          <a:prstGeom prst="rect">
            <a:avLst/>
          </a:prstGeom>
        </p:spPr>
      </p:pic>
      <p:sp>
        <p:nvSpPr>
          <p:cNvPr id="13" name="Rectangle 6">
            <a:extLst>
              <a:ext uri="{FF2B5EF4-FFF2-40B4-BE49-F238E27FC236}">
                <a16:creationId xmlns:a16="http://schemas.microsoft.com/office/drawing/2014/main" id="{D7FB0864-FF83-4BFC-BD3B-B0110928FEE1}"/>
              </a:ext>
            </a:extLst>
          </p:cNvPr>
          <p:cNvSpPr/>
          <p:nvPr/>
        </p:nvSpPr>
        <p:spPr>
          <a:xfrm>
            <a:off x="502920" y="6537960"/>
            <a:ext cx="11155680" cy="16459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43C819F4-173E-4194-9BAF-A0C02AE38FF8}"/>
              </a:ext>
            </a:extLst>
          </p:cNvPr>
          <p:cNvSpPr txBox="1"/>
          <p:nvPr/>
        </p:nvSpPr>
        <p:spPr>
          <a:xfrm>
            <a:off x="548640" y="6574536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TECH CHALLENGE 02  •  WINE QUALITY                                      11</a:t>
            </a: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99FCDE25-C8A8-4AC1-879E-16676A19D5E8}"/>
              </a:ext>
            </a:extLst>
          </p:cNvPr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D145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COMPARAÇÃO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D145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COMPARAÇÃO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O RANDOM FOREST ENTRA NA DISPUTA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Uma floresta de árvores consegue representar interações não lineares.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6459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TECH CHALLENGE 02  •  WINE QUALITY                                     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5349240" cy="2926080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64008" cy="292608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395728"/>
            <a:ext cx="493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145B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POR QUE TESTAR?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80944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As propriedades químicas podem atuar conjuntamente; a relação com a qualidade não precisa ser linear.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94560"/>
            <a:ext cx="5349240" cy="2926080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2194560"/>
            <a:ext cx="64008" cy="292608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395728"/>
            <a:ext cx="493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145B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COMO FOI AVALIADO?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980944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O notebook compara a versão bruta e a versão balanceada/normalizada e explora ajuste do limiar de decisão.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D145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RESULTADO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O AJUSTE QUE MUDOU A DECISÃO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Random Forest com base balanceada e limiar 0,40 — conclusão registrada no notebook.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6459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TECH CHALLENGE 02  •  WINE QUALITY                                      15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033826"/>
              </p:ext>
            </p:extLst>
          </p:nvPr>
        </p:nvGraphicFramePr>
        <p:xfrm>
          <a:off x="731520" y="2148840"/>
          <a:ext cx="68580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772400" y="2194560"/>
            <a:ext cx="3657600" cy="3383280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0" y="2194560"/>
            <a:ext cx="64008" cy="338328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01000" y="2395728"/>
            <a:ext cx="3246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145B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RESULTADO REPORTADO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980944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73% de recall e 61% de F1 para alta qualidade. A mudança do limiar favorece a captura da classe prioritária.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658368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ED145B"/>
                </a:solidFill>
                <a:latin typeface="Aptos" panose="020B0004020202020204"/>
              </a:rPr>
              <a:t>MATRIZ DE CONFUSÃO + CLASSIFICATION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252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C6C6C6"/>
                </a:solidFill>
                <a:latin typeface="Arial"/>
              </a:defRPr>
            </a:pPr>
            <a:r>
              <a:rPr dirty="0"/>
              <a:t>Random Forest </a:t>
            </a:r>
            <a:r>
              <a:rPr dirty="0" err="1"/>
              <a:t>balanceado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ED145B"/>
                </a:solidFill>
                <a:latin typeface="Arial"/>
              </a:defRPr>
            </a:pPr>
            <a:r>
              <a:rPr dirty="0"/>
              <a:t>MATRIZ DE CONFUSÃO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737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ED145B"/>
                </a:solidFill>
                <a:latin typeface="Arial"/>
              </a:defRPr>
            </a:pPr>
            <a:r>
              <a:t>CLASSIFICATION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2377440"/>
            <a:ext cx="5760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Classe       Precisão    Recall      F1       Suporte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Baixa        0.93           0.90        0.92          192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Alta         0.56           0.65        0.60          37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Acurácia: 86.0%     |     Teste: 229 amostras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C6C6C6"/>
                </a:solidFill>
                <a:latin typeface="Arial"/>
              </a:defRPr>
            </a:pPr>
            <a:r>
              <a:t>Fonte: reprodução dos parâmetros do notebook sobre WineQT.csv • mesma divisão treino/teste (random_state=99)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6FD61B5-12B4-48BC-A92B-5D159AC0CA26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F0BD16BB-BC85-4CEE-8226-7316C8D5D4A9}"/>
              </a:ext>
            </a:extLst>
          </p:cNvPr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D145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COMPARAÇÃO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C9411332-2113-4017-A3A9-A0CB112C5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5129794" cy="356616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658368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rPr lang="pt-BR" dirty="0">
                <a:solidFill>
                  <a:srgbClr val="ED145B"/>
                </a:solidFill>
                <a:latin typeface="Aptos" panose="020B0004020202020204"/>
              </a:rPr>
              <a:t>Comparação de Curvas ROC – Todos os Modelos</a:t>
            </a:r>
            <a:endParaRPr dirty="0">
              <a:solidFill>
                <a:srgbClr val="ED145B"/>
              </a:solidFill>
              <a:latin typeface="Aptos" panose="020B00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5488" y="1252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C6C6C6"/>
                </a:solidFill>
                <a:latin typeface="Arial"/>
              </a:defRPr>
            </a:pPr>
            <a:r>
              <a:rPr dirty="0" err="1"/>
              <a:t>Comparação</a:t>
            </a:r>
            <a:r>
              <a:rPr dirty="0"/>
              <a:t> da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 err="1"/>
              <a:t>positiva</a:t>
            </a:r>
            <a:r>
              <a:rPr dirty="0"/>
              <a:t> (nota ≥ 7), </a:t>
            </a:r>
            <a:r>
              <a:rPr dirty="0" err="1"/>
              <a:t>calculada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mesma</a:t>
            </a:r>
            <a:r>
              <a:rPr dirty="0"/>
              <a:t> base de teste.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9A95A35-6EDB-4BBB-B712-393182A1C39A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FDCF263C-674F-4B73-8909-845929377AE7}"/>
              </a:ext>
            </a:extLst>
          </p:cNvPr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D145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COMPARAÇÃO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1465E3F6-903F-4B67-97EC-80B9D5823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0956"/>
            <a:ext cx="5942264" cy="4942724"/>
          </a:xfrm>
          <a:prstGeom prst="rect">
            <a:avLst/>
          </a:prstGeom>
        </p:spPr>
      </p:pic>
      <p:sp>
        <p:nvSpPr>
          <p:cNvPr id="21" name="TextBox 5">
            <a:extLst>
              <a:ext uri="{FF2B5EF4-FFF2-40B4-BE49-F238E27FC236}">
                <a16:creationId xmlns:a16="http://schemas.microsoft.com/office/drawing/2014/main" id="{B4A909D7-B785-48AC-8E6C-8EFFDCAAFE26}"/>
              </a:ext>
            </a:extLst>
          </p:cNvPr>
          <p:cNvSpPr txBox="1"/>
          <p:nvPr/>
        </p:nvSpPr>
        <p:spPr>
          <a:xfrm>
            <a:off x="6733831" y="1845513"/>
            <a:ext cx="59422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ED145B"/>
                </a:solidFill>
                <a:latin typeface="Arial"/>
              </a:defRPr>
            </a:pPr>
            <a:r>
              <a:rPr sz="1200" dirty="0"/>
              <a:t>Random Forest </a:t>
            </a:r>
            <a:r>
              <a:rPr sz="1200" dirty="0" err="1"/>
              <a:t>limiar</a:t>
            </a:r>
            <a:r>
              <a:rPr sz="1200" dirty="0"/>
              <a:t> </a:t>
            </a:r>
            <a:r>
              <a:rPr sz="1200" dirty="0" err="1"/>
              <a:t>otimizado</a:t>
            </a:r>
            <a:r>
              <a:rPr sz="1200" dirty="0"/>
              <a:t>      </a:t>
            </a:r>
            <a:r>
              <a:rPr sz="1200" dirty="0" err="1"/>
              <a:t>Precisão</a:t>
            </a:r>
            <a:r>
              <a:rPr sz="1200" dirty="0"/>
              <a:t> 53%   Recall 73%   F1 61%</a:t>
            </a: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93F9BF35-AED2-4DE2-BF3B-6493CF3A3D5E}"/>
              </a:ext>
            </a:extLst>
          </p:cNvPr>
          <p:cNvGrpSpPr/>
          <p:nvPr/>
        </p:nvGrpSpPr>
        <p:grpSpPr>
          <a:xfrm>
            <a:off x="6733831" y="2143858"/>
            <a:ext cx="5359558" cy="3422535"/>
            <a:chOff x="6764767" y="2143858"/>
            <a:chExt cx="5973201" cy="3422535"/>
          </a:xfrm>
        </p:grpSpPr>
        <p:sp>
          <p:nvSpPr>
            <p:cNvPr id="22" name="TextBox 6">
              <a:extLst>
                <a:ext uri="{FF2B5EF4-FFF2-40B4-BE49-F238E27FC236}">
                  <a16:creationId xmlns:a16="http://schemas.microsoft.com/office/drawing/2014/main" id="{111A3B46-CAD6-42D4-B39D-DCE281CD2997}"/>
                </a:ext>
              </a:extLst>
            </p:cNvPr>
            <p:cNvSpPr txBox="1"/>
            <p:nvPr/>
          </p:nvSpPr>
          <p:spPr>
            <a:xfrm>
              <a:off x="6764767" y="2143858"/>
              <a:ext cx="594226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800"/>
                </a:spcAft>
                <a:defRPr sz="1500" b="0">
                  <a:solidFill>
                    <a:srgbClr val="FFFFFF"/>
                  </a:solidFill>
                  <a:latin typeface="Arial"/>
                </a:defRPr>
              </a:pPr>
              <a:r>
                <a:rPr sz="1200" dirty="0"/>
                <a:t>Random Forest </a:t>
              </a:r>
              <a:r>
                <a:rPr sz="1200" dirty="0" err="1"/>
                <a:t>balanceado</a:t>
              </a:r>
              <a:r>
                <a:rPr sz="1200" dirty="0"/>
                <a:t>           </a:t>
              </a:r>
              <a:r>
                <a:rPr sz="1200" dirty="0" err="1"/>
                <a:t>Precisão</a:t>
              </a:r>
              <a:r>
                <a:rPr sz="1200" dirty="0"/>
                <a:t> 56%   Recall 65%   F1 60%</a:t>
              </a:r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813C4112-1B97-475F-A251-FF09E7B25C7A}"/>
                </a:ext>
              </a:extLst>
            </p:cNvPr>
            <p:cNvSpPr txBox="1"/>
            <p:nvPr/>
          </p:nvSpPr>
          <p:spPr>
            <a:xfrm>
              <a:off x="6764767" y="2537050"/>
              <a:ext cx="594226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800"/>
                </a:spcAft>
                <a:defRPr sz="1500" b="0">
                  <a:solidFill>
                    <a:srgbClr val="FFFFFF"/>
                  </a:solidFill>
                  <a:latin typeface="Arial"/>
                </a:defRPr>
              </a:pPr>
              <a:r>
                <a:rPr sz="1200" dirty="0"/>
                <a:t>KNN </a:t>
              </a:r>
              <a:r>
                <a:rPr sz="1200" dirty="0" err="1"/>
                <a:t>balanceado</a:t>
              </a:r>
              <a:r>
                <a:rPr sz="1200" dirty="0"/>
                <a:t>                      </a:t>
              </a:r>
              <a:r>
                <a:rPr lang="pt-BR" sz="1200" dirty="0"/>
                <a:t>      </a:t>
              </a:r>
              <a:r>
                <a:rPr sz="1200" dirty="0" err="1"/>
                <a:t>Precisão</a:t>
              </a:r>
              <a:r>
                <a:rPr sz="1200" dirty="0"/>
                <a:t> 56%   Recall 49%   F1 52%</a:t>
              </a:r>
            </a:p>
          </p:txBody>
        </p:sp>
        <p:sp>
          <p:nvSpPr>
            <p:cNvPr id="24" name="TextBox 8">
              <a:extLst>
                <a:ext uri="{FF2B5EF4-FFF2-40B4-BE49-F238E27FC236}">
                  <a16:creationId xmlns:a16="http://schemas.microsoft.com/office/drawing/2014/main" id="{10345A88-C391-4FA2-8F2A-BBD839395C33}"/>
                </a:ext>
              </a:extLst>
            </p:cNvPr>
            <p:cNvSpPr txBox="1"/>
            <p:nvPr/>
          </p:nvSpPr>
          <p:spPr>
            <a:xfrm>
              <a:off x="6764767" y="2930242"/>
              <a:ext cx="594226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800"/>
                </a:spcAft>
                <a:defRPr sz="1500" b="0">
                  <a:solidFill>
                    <a:srgbClr val="FFFFFF"/>
                  </a:solidFill>
                  <a:latin typeface="Arial"/>
                </a:defRPr>
              </a:pPr>
              <a:r>
                <a:rPr sz="1200" dirty="0"/>
                <a:t>Naive Bayes </a:t>
              </a:r>
              <a:r>
                <a:rPr sz="1200" dirty="0" err="1"/>
                <a:t>bruto</a:t>
              </a:r>
              <a:r>
                <a:rPr sz="1200" dirty="0"/>
                <a:t>                  </a:t>
              </a:r>
              <a:r>
                <a:rPr lang="pt-BR" sz="1200" dirty="0"/>
                <a:t>        </a:t>
              </a:r>
              <a:r>
                <a:rPr sz="1200" dirty="0" err="1"/>
                <a:t>Precisão</a:t>
              </a:r>
              <a:r>
                <a:rPr sz="1200" dirty="0"/>
                <a:t> 53%   Recall 51%   F1 52%</a:t>
              </a:r>
            </a:p>
          </p:txBody>
        </p: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9C196128-A5A1-4DD2-A043-4D341BF884C3}"/>
                </a:ext>
              </a:extLst>
            </p:cNvPr>
            <p:cNvSpPr txBox="1"/>
            <p:nvPr/>
          </p:nvSpPr>
          <p:spPr>
            <a:xfrm>
              <a:off x="6764767" y="3323434"/>
              <a:ext cx="594226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800"/>
                </a:spcAft>
                <a:defRPr sz="1500" b="0">
                  <a:solidFill>
                    <a:srgbClr val="FFFFFF"/>
                  </a:solidFill>
                  <a:latin typeface="Arial"/>
                </a:defRPr>
              </a:pPr>
              <a:r>
                <a:rPr sz="1200" dirty="0"/>
                <a:t>Random Forest </a:t>
              </a:r>
              <a:r>
                <a:rPr sz="1200" dirty="0" err="1"/>
                <a:t>bruto</a:t>
              </a:r>
              <a:r>
                <a:rPr sz="1200" dirty="0"/>
                <a:t>                 </a:t>
              </a:r>
              <a:r>
                <a:rPr lang="pt-BR" sz="1200" dirty="0"/>
                <a:t>    </a:t>
              </a:r>
              <a:r>
                <a:rPr sz="1200" dirty="0" err="1"/>
                <a:t>Precisão</a:t>
              </a:r>
              <a:r>
                <a:rPr sz="1200" dirty="0"/>
                <a:t> 60%   Recall 41%   F1 48%</a:t>
              </a:r>
            </a:p>
          </p:txBody>
        </p:sp>
        <p:sp>
          <p:nvSpPr>
            <p:cNvPr id="26" name="TextBox 10">
              <a:extLst>
                <a:ext uri="{FF2B5EF4-FFF2-40B4-BE49-F238E27FC236}">
                  <a16:creationId xmlns:a16="http://schemas.microsoft.com/office/drawing/2014/main" id="{58FA1717-19E6-4D0C-ABBD-F6FAAFA59B0A}"/>
                </a:ext>
              </a:extLst>
            </p:cNvPr>
            <p:cNvSpPr txBox="1"/>
            <p:nvPr/>
          </p:nvSpPr>
          <p:spPr>
            <a:xfrm>
              <a:off x="6764767" y="3716626"/>
              <a:ext cx="594226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800"/>
                </a:spcAft>
                <a:defRPr sz="1500" b="0">
                  <a:solidFill>
                    <a:srgbClr val="FFFFFF"/>
                  </a:solidFill>
                  <a:latin typeface="Arial"/>
                </a:defRPr>
              </a:pPr>
              <a:r>
                <a:rPr sz="1200" dirty="0" err="1"/>
                <a:t>Regressão</a:t>
              </a:r>
              <a:r>
                <a:rPr sz="1200" dirty="0"/>
                <a:t> </a:t>
              </a:r>
              <a:r>
                <a:rPr sz="1200" dirty="0" err="1"/>
                <a:t>logística</a:t>
              </a:r>
              <a:r>
                <a:rPr sz="1200" dirty="0"/>
                <a:t> </a:t>
              </a:r>
              <a:r>
                <a:rPr sz="1200" dirty="0" err="1"/>
                <a:t>balanceada</a:t>
              </a:r>
              <a:r>
                <a:rPr sz="1200" dirty="0"/>
                <a:t>    </a:t>
              </a:r>
              <a:r>
                <a:rPr sz="1200" dirty="0" err="1"/>
                <a:t>Precisão</a:t>
              </a:r>
              <a:r>
                <a:rPr sz="1200" dirty="0"/>
                <a:t> 36%   Recall 65%   F1 46%</a:t>
              </a:r>
            </a:p>
          </p:txBody>
        </p:sp>
        <p:sp>
          <p:nvSpPr>
            <p:cNvPr id="27" name="TextBox 11">
              <a:extLst>
                <a:ext uri="{FF2B5EF4-FFF2-40B4-BE49-F238E27FC236}">
                  <a16:creationId xmlns:a16="http://schemas.microsoft.com/office/drawing/2014/main" id="{C366CDB3-06EF-41A9-A1C3-796271C047EC}"/>
                </a:ext>
              </a:extLst>
            </p:cNvPr>
            <p:cNvSpPr txBox="1"/>
            <p:nvPr/>
          </p:nvSpPr>
          <p:spPr>
            <a:xfrm>
              <a:off x="6795704" y="4109818"/>
              <a:ext cx="594226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800"/>
                </a:spcAft>
                <a:defRPr sz="1500" b="0">
                  <a:solidFill>
                    <a:srgbClr val="FFFFFF"/>
                  </a:solidFill>
                  <a:latin typeface="Arial"/>
                </a:defRPr>
              </a:pPr>
              <a:r>
                <a:rPr sz="1200" dirty="0"/>
                <a:t>KNN </a:t>
              </a:r>
              <a:r>
                <a:rPr sz="1200" dirty="0" err="1"/>
                <a:t>bruto</a:t>
              </a:r>
              <a:r>
                <a:rPr sz="1200" dirty="0"/>
                <a:t>                           </a:t>
              </a:r>
              <a:r>
                <a:rPr lang="pt-BR" sz="1200" dirty="0"/>
                <a:t>           </a:t>
              </a:r>
              <a:r>
                <a:rPr sz="1200" dirty="0" err="1"/>
                <a:t>Precisão</a:t>
              </a:r>
              <a:r>
                <a:rPr sz="1200" dirty="0"/>
                <a:t> 67%   Recall 32%   F1 44%</a:t>
              </a:r>
            </a:p>
          </p:txBody>
        </p:sp>
        <p:sp>
          <p:nvSpPr>
            <p:cNvPr id="28" name="TextBox 12">
              <a:extLst>
                <a:ext uri="{FF2B5EF4-FFF2-40B4-BE49-F238E27FC236}">
                  <a16:creationId xmlns:a16="http://schemas.microsoft.com/office/drawing/2014/main" id="{39336036-620A-4D8F-8F73-D5E712660F69}"/>
                </a:ext>
              </a:extLst>
            </p:cNvPr>
            <p:cNvSpPr txBox="1"/>
            <p:nvPr/>
          </p:nvSpPr>
          <p:spPr>
            <a:xfrm>
              <a:off x="6764767" y="4503010"/>
              <a:ext cx="594226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800"/>
                </a:spcAft>
                <a:defRPr sz="1500" b="0">
                  <a:solidFill>
                    <a:srgbClr val="FFFFFF"/>
                  </a:solidFill>
                  <a:latin typeface="Arial"/>
                </a:defRPr>
              </a:pPr>
              <a:r>
                <a:rPr sz="1200" dirty="0"/>
                <a:t>Naive Bayes </a:t>
              </a:r>
              <a:r>
                <a:rPr sz="1200" dirty="0" err="1"/>
                <a:t>balanceado</a:t>
              </a:r>
              <a:r>
                <a:rPr sz="1200" dirty="0"/>
                <a:t>              </a:t>
              </a:r>
              <a:r>
                <a:rPr lang="pt-BR" sz="1200" dirty="0"/>
                <a:t> </a:t>
              </a:r>
              <a:r>
                <a:rPr sz="1200" dirty="0" err="1"/>
                <a:t>Precisão</a:t>
              </a:r>
              <a:r>
                <a:rPr sz="1200" dirty="0"/>
                <a:t> 32%   </a:t>
              </a:r>
              <a:r>
                <a:rPr lang="pt-BR" sz="1200" dirty="0"/>
                <a:t> </a:t>
              </a:r>
              <a:r>
                <a:rPr sz="1200" dirty="0"/>
                <a:t>Recall 65%   F1 43%</a:t>
              </a:r>
            </a:p>
          </p:txBody>
        </p:sp>
        <p:sp>
          <p:nvSpPr>
            <p:cNvPr id="29" name="TextBox 13">
              <a:extLst>
                <a:ext uri="{FF2B5EF4-FFF2-40B4-BE49-F238E27FC236}">
                  <a16:creationId xmlns:a16="http://schemas.microsoft.com/office/drawing/2014/main" id="{163735AF-68A0-4FDC-B649-62AB57246D42}"/>
                </a:ext>
              </a:extLst>
            </p:cNvPr>
            <p:cNvSpPr txBox="1"/>
            <p:nvPr/>
          </p:nvSpPr>
          <p:spPr>
            <a:xfrm>
              <a:off x="6764767" y="4896202"/>
              <a:ext cx="594226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800"/>
                </a:spcAft>
                <a:defRPr sz="1500" b="0">
                  <a:solidFill>
                    <a:srgbClr val="FFFFFF"/>
                  </a:solidFill>
                  <a:latin typeface="Arial"/>
                </a:defRPr>
              </a:pPr>
              <a:r>
                <a:rPr sz="1200" dirty="0" err="1"/>
                <a:t>Regressão</a:t>
              </a:r>
              <a:r>
                <a:rPr sz="1200" dirty="0"/>
                <a:t> </a:t>
              </a:r>
              <a:r>
                <a:rPr sz="1200" dirty="0" err="1"/>
                <a:t>logística</a:t>
              </a:r>
              <a:r>
                <a:rPr sz="1200" dirty="0"/>
                <a:t> </a:t>
              </a:r>
              <a:r>
                <a:rPr sz="1200" dirty="0" err="1"/>
                <a:t>bruta</a:t>
              </a:r>
              <a:r>
                <a:rPr sz="1200" dirty="0"/>
                <a:t>          </a:t>
              </a:r>
              <a:r>
                <a:rPr lang="pt-BR" sz="1200" dirty="0"/>
                <a:t>  </a:t>
              </a:r>
              <a:r>
                <a:rPr sz="1200" dirty="0"/>
                <a:t> </a:t>
              </a:r>
              <a:r>
                <a:rPr lang="pt-BR" sz="1200" dirty="0"/>
                <a:t> </a:t>
              </a:r>
              <a:r>
                <a:rPr sz="1200" dirty="0" err="1"/>
                <a:t>Precisão</a:t>
              </a:r>
              <a:r>
                <a:rPr sz="1200" dirty="0"/>
                <a:t> 83%   </a:t>
              </a:r>
              <a:r>
                <a:rPr lang="pt-BR" sz="1200" dirty="0"/>
                <a:t> </a:t>
              </a:r>
              <a:r>
                <a:rPr sz="1200" dirty="0"/>
                <a:t>Recall 27%   F1 41%</a:t>
              </a:r>
            </a:p>
          </p:txBody>
        </p:sp>
        <p:sp>
          <p:nvSpPr>
            <p:cNvPr id="30" name="TextBox 14">
              <a:extLst>
                <a:ext uri="{FF2B5EF4-FFF2-40B4-BE49-F238E27FC236}">
                  <a16:creationId xmlns:a16="http://schemas.microsoft.com/office/drawing/2014/main" id="{B5F863A7-836C-471B-91DE-90A66196A160}"/>
                </a:ext>
              </a:extLst>
            </p:cNvPr>
            <p:cNvSpPr txBox="1"/>
            <p:nvPr/>
          </p:nvSpPr>
          <p:spPr>
            <a:xfrm>
              <a:off x="6764767" y="5289394"/>
              <a:ext cx="594226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800"/>
                </a:spcAft>
                <a:defRPr sz="1500" b="0">
                  <a:solidFill>
                    <a:srgbClr val="FFFFFF"/>
                  </a:solidFill>
                  <a:latin typeface="Arial"/>
                </a:defRPr>
              </a:pPr>
              <a:r>
                <a:rPr sz="1200" dirty="0"/>
                <a:t>Dummy                               </a:t>
              </a:r>
              <a:r>
                <a:rPr lang="pt-BR" sz="1200" dirty="0"/>
                <a:t>           </a:t>
              </a:r>
              <a:r>
                <a:rPr sz="1200" dirty="0" err="1"/>
                <a:t>Precisão</a:t>
              </a:r>
              <a:r>
                <a:rPr sz="1200" dirty="0"/>
                <a:t> 0%   </a:t>
              </a:r>
              <a:r>
                <a:rPr lang="pt-BR" sz="1200" dirty="0"/>
                <a:t>   </a:t>
              </a:r>
              <a:r>
                <a:rPr sz="1200" dirty="0"/>
                <a:t>Recall 0%  </a:t>
              </a:r>
              <a:r>
                <a:rPr lang="pt-BR" sz="1200" dirty="0"/>
                <a:t>  </a:t>
              </a:r>
              <a:r>
                <a:rPr sz="1200" dirty="0"/>
                <a:t> F1 0%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D145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DECISÃO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A COMPARAÇÃO QUE SUSTENTA A ESCOLHA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Indicadores da classe de alta qualidade, conforme conclusões do notebook.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6459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TECH CHALLENGE 02  •  WINE QUALITY                                      16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289182"/>
              </p:ext>
            </p:extLst>
          </p:nvPr>
        </p:nvGraphicFramePr>
        <p:xfrm>
          <a:off x="731520" y="2194560"/>
          <a:ext cx="69494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63840" y="2194560"/>
            <a:ext cx="3657600" cy="3291840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63840" y="2194560"/>
            <a:ext cx="64008" cy="329184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2395728"/>
            <a:ext cx="3246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145B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F1 DA CLASSE ALTA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980944"/>
            <a:ext cx="3200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KNN ≈ 0,52</a:t>
            </a:r>
          </a:p>
          <a:p>
            <a:pPr>
              <a:spcAft>
                <a:spcPts val="1000"/>
              </a:spcAft>
              <a:defRPr sz="17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Logística padronizada ≈ 0,463</a:t>
            </a:r>
          </a:p>
          <a:p>
            <a:pPr>
              <a:spcAft>
                <a:spcPts val="1000"/>
              </a:spcAft>
              <a:defRPr sz="17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Random Forest ajustado ≈ 0,61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D145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IMPLICAÇÕES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O QUE ESSA ESCOLHA PERMITE?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Apoio antecipado à decisão, sem substituir especialistas.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6459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TECH CHALLENGE 02  •  WINE QUALITY                                     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3566160" cy="3108960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64008" cy="310896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395728"/>
            <a:ext cx="3154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145B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CONTROLE DE QUALIDADE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80944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Triagem de lotes com base em medidas físico-químicas.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2194560"/>
            <a:ext cx="3566160" cy="3108960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2194560"/>
            <a:ext cx="64008" cy="310896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2395728"/>
            <a:ext cx="3154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145B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PROCESSO PRODUTIVO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80944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Acompanhar álcool e acidez volátil, com validação enológica.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194560"/>
            <a:ext cx="3520440" cy="3108960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194560"/>
            <a:ext cx="64008" cy="310896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2395728"/>
            <a:ext cx="3108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145B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POSICIONAMENTO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980944"/>
            <a:ext cx="3063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Apoiar decisões sobre lotes premium após validação operacional.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D145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RECOMENDAÇÃO EXECUTIVA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Selecionar Random Forest como candidato prioritário para validação.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6459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TECH CHALLENGE 02  •  WINE QUALITY                                     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5577840" cy="3200400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64008" cy="32004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395728"/>
            <a:ext cx="5166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145B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POR QUE RANDOM FOREST?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80944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Melhor F1 reportado entre os resultados destacados e recall de 73% para vinhos de alta qualidade, com limiar ajustado.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94560"/>
            <a:ext cx="5074920" cy="3200400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2194560"/>
            <a:ext cx="64008" cy="32004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2395728"/>
            <a:ext cx="466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145B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PRÓXIMOS PASSOS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980944"/>
            <a:ext cx="4617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Validar em amostras externas, monitorar falsos positivos, calibrar limiar e medir importância das variáveis.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D145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REFERÊNCIAS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232326"/>
                </a:solidFill>
                <a:latin typeface="Aptos"/>
              </a:defRPr>
            </a:pPr>
            <a:r>
              <a:rPr dirty="0">
                <a:solidFill>
                  <a:srgbClr val="ED145B"/>
                </a:solidFill>
              </a:rPr>
              <a:t>FONTES, ESCOPO E LIMITAÇÕES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Transparência sobre a origem das evidências.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6459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TECH CHALLENGE 02  •  WINE QUALITY                                     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Fonte: tech_challenge_02.py (notebook fornecido)</a:t>
            </a:r>
          </a:p>
          <a:p>
            <a:pPr>
              <a:spcAft>
                <a:spcPts val="1000"/>
              </a:spcAft>
              <a:defRPr sz="18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Regras: POSTECH – DTAT – Tech Challenge – Fase 2</a:t>
            </a:r>
          </a:p>
          <a:p>
            <a:pPr>
              <a:spcAft>
                <a:spcPts val="1000"/>
              </a:spcAft>
              <a:defRPr sz="18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Base citada: Wine Quality Dataset (Kaggle)</a:t>
            </a:r>
          </a:p>
          <a:p>
            <a:pPr>
              <a:spcAft>
                <a:spcPts val="1000"/>
              </a:spcAft>
              <a:defRPr sz="1800" b="0">
                <a:solidFill>
                  <a:srgbClr val="232326"/>
                </a:solidFill>
                <a:latin typeface="Aptos"/>
              </a:defRPr>
            </a:pPr>
            <a:endParaRPr>
              <a:solidFill>
                <a:srgbClr val="FFFFFF"/>
              </a:solidFill>
            </a:endParaRPr>
          </a:p>
          <a:p>
            <a:pPr>
              <a:spcAft>
                <a:spcPts val="1000"/>
              </a:spcAft>
              <a:defRPr sz="1800" b="0">
                <a:solidFill>
                  <a:srgbClr val="23232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Gráficos desta apresentação foram reconstruídos com os números explicitados no notebook; não houve reexecução sem o arquivo WineQT.csv. Correlação não demonstra causalidade. Métricas finais de Random Forest são as declaradas na conclusão do notebook.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1608</Words>
  <Application>Microsoft Office PowerPoint</Application>
  <PresentationFormat>Widescreen</PresentationFormat>
  <Paragraphs>224</Paragraphs>
  <Slides>31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5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alan alan</cp:lastModifiedBy>
  <cp:revision>8</cp:revision>
  <dcterms:created xsi:type="dcterms:W3CDTF">2013-01-27T09:14:16Z</dcterms:created>
  <dcterms:modified xsi:type="dcterms:W3CDTF">2026-10-25T19:02:14Z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6648805-0676-427f-8b3f-8deff0dc1a0a_Enabled">
    <vt:lpwstr>true</vt:lpwstr>
  </property>
  <property fmtid="{D5CDD505-2E9C-101B-9397-08002B2CF9AE}" pid="3" name="MSIP_Label_f6648805-0676-427f-8b3f-8deff0dc1a0a_SetDate">
    <vt:lpwstr>2026-10-22T14:10:52Z</vt:lpwstr>
  </property>
  <property fmtid="{D5CDD505-2E9C-101B-9397-08002B2CF9AE}" pid="4" name="MSIP_Label_f6648805-0676-427f-8b3f-8deff0dc1a0a_Method">
    <vt:lpwstr>Privileged</vt:lpwstr>
  </property>
  <property fmtid="{D5CDD505-2E9C-101B-9397-08002B2CF9AE}" pid="5" name="MSIP_Label_f6648805-0676-427f-8b3f-8deff0dc1a0a_Name">
    <vt:lpwstr>Público</vt:lpwstr>
  </property>
  <property fmtid="{D5CDD505-2E9C-101B-9397-08002B2CF9AE}" pid="6" name="MSIP_Label_f6648805-0676-427f-8b3f-8deff0dc1a0a_SiteId">
    <vt:lpwstr>77d68323-6f4b-460f-8aae-d32c654ec490</vt:lpwstr>
  </property>
  <property fmtid="{D5CDD505-2E9C-101B-9397-08002B2CF9AE}" pid="7" name="MSIP_Label_f6648805-0676-427f-8b3f-8deff0dc1a0a_ActionId">
    <vt:lpwstr>00e413fa-110a-4fe0-a784-8a4fc2e9e4f7</vt:lpwstr>
  </property>
  <property fmtid="{D5CDD505-2E9C-101B-9397-08002B2CF9AE}" pid="8" name="MSIP_Label_f6648805-0676-427f-8b3f-8deff0dc1a0a_ContentBits">
    <vt:lpwstr>3</vt:lpwstr>
  </property>
  <property fmtid="{D5CDD505-2E9C-101B-9397-08002B2CF9AE}" pid="9" name="MSIP_Label_f6648805-0676-427f-8b3f-8deff0dc1a0a_Tag">
    <vt:lpwstr>10, 0, 1, 1</vt:lpwstr>
  </property>
  <property fmtid="{D5CDD505-2E9C-101B-9397-08002B2CF9AE}" pid="10" name="ClassificationContentMarkingFooterLocations">
    <vt:lpwstr>Office Theme:10</vt:lpwstr>
  </property>
  <property fmtid="{D5CDD505-2E9C-101B-9397-08002B2CF9AE}" pid="11" name="ClassificationContentMarkingFooterText">
    <vt:lpwstr>PÚBLICO</vt:lpwstr>
  </property>
  <property fmtid="{D5CDD505-2E9C-101B-9397-08002B2CF9AE}" pid="12" name="ClassificationContentMarkingHeaderLocations">
    <vt:lpwstr>Office Theme:9</vt:lpwstr>
  </property>
  <property fmtid="{D5CDD505-2E9C-101B-9397-08002B2CF9AE}" pid="13" name="ClassificationContentMarkingHeaderText">
    <vt:lpwstr>PÚBLICO</vt:lpwstr>
  </property>
</Properties>
</file>